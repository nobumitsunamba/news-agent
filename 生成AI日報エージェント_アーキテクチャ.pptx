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生成AI日報エージェント  —  ITアーキテクチャ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777240"/>
            <a:ext cx="2926080" cy="5303520"/>
          </a:xfrm>
          <a:prstGeom prst="rect">
            <a:avLst/>
          </a:prstGeom>
          <a:solidFill>
            <a:srgbClr val="E3EAF8"/>
          </a:solidFill>
          <a:ln w="12700">
            <a:solidFill>
              <a:srgbClr val="BB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8046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E6EC8"/>
                </a:solidFill>
              </a:rPr>
              <a:t>📡  入力（RSSフィード）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337560" y="777240"/>
            <a:ext cx="3474720" cy="5303520"/>
          </a:xfrm>
          <a:prstGeom prst="rect">
            <a:avLst/>
          </a:prstGeom>
          <a:solidFill>
            <a:srgbClr val="E8F5E9"/>
          </a:solidFill>
          <a:ln w="12700">
            <a:solidFill>
              <a:srgbClr val="BBDD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8046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E7D32"/>
                </a:solidFill>
              </a:rPr>
              <a:t>⚙️  処理（news_agent.py）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0" y="777240"/>
            <a:ext cx="3108960" cy="5303520"/>
          </a:xfrm>
          <a:prstGeom prst="rect">
            <a:avLst/>
          </a:prstGeom>
          <a:solidFill>
            <a:srgbClr val="FFF3E0"/>
          </a:solidFill>
          <a:ln w="12700">
            <a:solidFill>
              <a:srgbClr val="EEC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0" y="8046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7C00"/>
                </a:solidFill>
              </a:rPr>
              <a:t>📤  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34440"/>
            <a:ext cx="2651760" cy="594360"/>
          </a:xfrm>
          <a:prstGeom prst="roundRect">
            <a:avLst>
              <a:gd name="adj" fmla="val 20000"/>
            </a:avLst>
          </a:prstGeom>
          <a:solidFill>
            <a:srgbClr val="2E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Google News
生成AI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51760" cy="777240"/>
          </a:xfrm>
          <a:prstGeom prst="roundRect">
            <a:avLst>
              <a:gd name="adj" fmla="val 20000"/>
            </a:avLst>
          </a:prstGeom>
          <a:solidFill>
            <a:srgbClr val="2E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Google News
ChatGPT/Claude
/Gemini/LLM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154680"/>
            <a:ext cx="2651760" cy="594360"/>
          </a:xfrm>
          <a:prstGeom prst="roundRect">
            <a:avLst>
              <a:gd name="adj" fmla="val 20000"/>
            </a:avLst>
          </a:prstGeom>
          <a:solidFill>
            <a:srgbClr val="2E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ITmedia NEWS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977639"/>
            <a:ext cx="2651760" cy="594360"/>
          </a:xfrm>
          <a:prstGeom prst="roundRect">
            <a:avLst>
              <a:gd name="adj" fmla="val 20000"/>
            </a:avLst>
          </a:prstGeom>
          <a:solidFill>
            <a:srgbClr val="2E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TechCrunch Japan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234440"/>
            <a:ext cx="3200400" cy="658368"/>
          </a:xfrm>
          <a:prstGeom prst="roundRect">
            <a:avLst>
              <a:gd name="adj" fmla="val 15000"/>
            </a:avLst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① RSS収集
fetch_articles_from_feed()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148840"/>
            <a:ext cx="3200400" cy="658368"/>
          </a:xfrm>
          <a:prstGeom prst="roundRect">
            <a:avLst>
              <a:gd name="adj" fmla="val 1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② キーワードフィルタ
filter_articles()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3063240"/>
            <a:ext cx="3200400" cy="658368"/>
          </a:xfrm>
          <a:prstGeom prst="roundRect">
            <a:avLst>
              <a:gd name="adj" fmla="val 1500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③ Claude API 要約
summarize_with_claude()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0" y="4160520"/>
            <a:ext cx="3200400" cy="658368"/>
          </a:xfrm>
          <a:prstGeom prst="roundRect">
            <a:avLst>
              <a:gd name="adj" fmla="val 15000"/>
            </a:avLst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④ メール送信
send_email()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4920" y="1892807"/>
            <a:ext cx="0" cy="256032"/>
          </a:xfrm>
          <a:prstGeom prst="line">
            <a:avLst/>
          </a:prstGeom>
          <a:ln w="25400">
            <a:solidFill>
              <a:srgbClr val="2E7D32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74920" y="2807208"/>
            <a:ext cx="0" cy="256031"/>
          </a:xfrm>
          <a:prstGeom prst="line">
            <a:avLst/>
          </a:prstGeom>
          <a:ln w="25400">
            <a:solidFill>
              <a:srgbClr val="2E7D32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074920" y="3721608"/>
            <a:ext cx="0" cy="256032"/>
          </a:xfrm>
          <a:prstGeom prst="line">
            <a:avLst/>
          </a:prstGeom>
          <a:ln w="25400">
            <a:solidFill>
              <a:srgbClr val="2E7D32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9006840" y="1234440"/>
            <a:ext cx="2834640" cy="1005840"/>
          </a:xfrm>
          <a:prstGeom prst="roundRect">
            <a:avLst>
              <a:gd name="adj" fmla="val 20000"/>
            </a:avLst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Gmail
受信トレイ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28600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D4C41"/>
                </a:solidFill>
              </a:rPr>
              <a:t>件名：【生成AI日報】
YYYY年MM月DD日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2880360"/>
            <a:ext cx="2834640" cy="1371600"/>
          </a:xfrm>
          <a:prstGeom prst="roundRect">
            <a:avLst>
              <a:gd name="adj" fmla="val 10000"/>
            </a:avLst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4E3423"/>
                </a:solidFill>
              </a:rPr>
              <a:t>• SMTP SSL（Port 465）
• プレーンテキスト＋HTML
• 毎朝 JST 07:00 に自動送信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5257800"/>
            <a:ext cx="3200400" cy="685800"/>
          </a:xfrm>
          <a:prstGeom prst="roundRect">
            <a:avLst>
              <a:gd name="adj" fmla="val 15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⏰  GitHub Actions
cron: '0 22 * * *' (JST 07:00)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57800"/>
            <a:ext cx="2651760" cy="685800"/>
          </a:xfrm>
          <a:prstGeom prst="roundRect">
            <a:avLst>
              <a:gd name="adj" fmla="val 15000"/>
            </a:avLst>
          </a:prstGeom>
          <a:solidFill>
            <a:srgbClr val="789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FFFFFF"/>
                </a:solidFill>
              </a:rPr>
              <a:t>🔐  GitHub Secrets
ANTHROPIC_API_KEY
GMAIL_APP_PASSWORD 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840" y="4709160"/>
            <a:ext cx="2834640" cy="1234440"/>
          </a:xfrm>
          <a:prstGeom prst="roundRect">
            <a:avLst>
              <a:gd name="adj" fmla="val 2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🤖  Claude API
claude-sonnet-4-6
(Anthropic)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971800" y="1536192"/>
            <a:ext cx="502920" cy="0"/>
          </a:xfrm>
          <a:prstGeom prst="line">
            <a:avLst/>
          </a:prstGeom>
          <a:ln w="19050">
            <a:solidFill>
              <a:srgbClr val="557799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971800" y="2359152"/>
            <a:ext cx="502920" cy="0"/>
          </a:xfrm>
          <a:prstGeom prst="line">
            <a:avLst/>
          </a:prstGeom>
          <a:ln w="19050">
            <a:solidFill>
              <a:srgbClr val="557799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71800" y="3456432"/>
            <a:ext cx="502920" cy="0"/>
          </a:xfrm>
          <a:prstGeom prst="line">
            <a:avLst/>
          </a:prstGeom>
          <a:ln w="19050">
            <a:solidFill>
              <a:srgbClr val="557799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71800" y="4279392"/>
            <a:ext cx="502920" cy="0"/>
          </a:xfrm>
          <a:prstGeom prst="line">
            <a:avLst/>
          </a:prstGeom>
          <a:ln w="19050">
            <a:solidFill>
              <a:srgbClr val="557799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675120" y="2377440"/>
            <a:ext cx="2331720" cy="2112264"/>
          </a:xfrm>
          <a:prstGeom prst="line">
            <a:avLst/>
          </a:prstGeom>
          <a:ln w="25400">
            <a:solidFill>
              <a:srgbClr val="F57C0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074920" y="4818888"/>
            <a:ext cx="0" cy="438912"/>
          </a:xfrm>
          <a:prstGeom prst="line">
            <a:avLst/>
          </a:prstGeom>
          <a:ln w="25400">
            <a:solidFill>
              <a:srgbClr val="6A1B9A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971800" y="5596128"/>
            <a:ext cx="502920" cy="0"/>
          </a:xfrm>
          <a:prstGeom prst="line">
            <a:avLst/>
          </a:prstGeom>
          <a:ln w="19050">
            <a:solidFill>
              <a:srgbClr val="7890A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7315200" y="3392424"/>
            <a:ext cx="1691640" cy="1911096"/>
          </a:xfrm>
          <a:prstGeom prst="line">
            <a:avLst/>
          </a:prstGeom>
          <a:ln w="2540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675120" y="3392424"/>
            <a:ext cx="2331720" cy="1728216"/>
          </a:xfrm>
          <a:prstGeom prst="line">
            <a:avLst/>
          </a:prstGeom>
          <a:ln w="1905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20840" y="4160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9688"/>
                </a:solidFill>
              </a:rPr>
              <a:t>要約・重複排除・
重要度ソート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2606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57C00"/>
                </a:solidFill>
              </a:rPr>
              <a:t>メール本文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9834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A1B9A"/>
                </a:solidFill>
              </a:rPr>
              <a:t>毎朝トリガー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5349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890A8"/>
                </a:solidFill>
              </a:rPr>
              <a:t>認証情報注入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" y="6309360"/>
            <a:ext cx="1188720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373368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2E6EC8"/>
                </a:solidFill>
              </a:rPr>
              <a:t>■ RSSフィード（入力）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6373368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2E7D32"/>
                </a:solidFill>
              </a:rPr>
              <a:t>■ 処理（Python）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6373368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9688"/>
                </a:solidFill>
              </a:rPr>
              <a:t>■ Claude API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6373368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F57C00"/>
                </a:solidFill>
              </a:rPr>
              <a:t>■ Gmail（出力）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6373368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A1B9A"/>
                </a:solidFill>
              </a:rPr>
              <a:t>■ GitHub Actions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6373368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7890A8"/>
                </a:solidFill>
              </a:rPr>
              <a:t>■ GitHub Secrets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