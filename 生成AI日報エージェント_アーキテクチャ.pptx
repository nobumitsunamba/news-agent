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283D"/>
          </a:solidFill>
          <a:ln w="6350">
            <a:solidFill>
              <a:srgbClr val="2A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0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eiryo UI"/>
              </a:rPr>
              <a:t>生成AI日報エージェント  —  ITアーキテクチャ（エンジニア向け）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A8C0"/>
                </a:solidFill>
                <a:latin typeface="Meiryo UI"/>
              </a:rPr>
              <a:t>Python 3.12  | 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566928"/>
            <a:ext cx="2606040" cy="5669280"/>
          </a:xfrm>
          <a:prstGeom prst="roundRect">
            <a:avLst>
              <a:gd name="adj" fmla="val 12000"/>
            </a:avLst>
          </a:prstGeom>
          <a:solidFill>
            <a:srgbClr val="16283D"/>
          </a:solidFill>
          <a:ln w="1016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594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98FFF"/>
                </a:solidFill>
                <a:latin typeface="Meiryo UI"/>
              </a:rPr>
              <a:t>INPUT  /  RSS Feeds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566928"/>
            <a:ext cx="3931920" cy="5669280"/>
          </a:xfrm>
          <a:prstGeom prst="roundRect">
            <a:avLst>
              <a:gd name="adj" fmla="val 12000"/>
            </a:avLst>
          </a:prstGeom>
          <a:solidFill>
            <a:srgbClr val="16283D"/>
          </a:solidFill>
          <a:ln w="1016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594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87A"/>
                </a:solidFill>
                <a:latin typeface="Meiryo UI"/>
              </a:rPr>
              <a:t>PROCESSING  /  news_agent.py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566928"/>
            <a:ext cx="3200400" cy="5669280"/>
          </a:xfrm>
          <a:prstGeom prst="roundRect">
            <a:avLst>
              <a:gd name="adj" fmla="val 12000"/>
            </a:avLst>
          </a:prstGeom>
          <a:solidFill>
            <a:srgbClr val="16283D"/>
          </a:solidFill>
          <a:ln w="1016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594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7A00"/>
                </a:solidFill>
                <a:latin typeface="Meiryo UI"/>
              </a:rPr>
              <a:t>OUTPUT  /  Gmail SMTP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0A3560"/>
          </a:solidFill>
          <a:ln w="1016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298FFF"/>
                </a:solidFill>
                <a:latin typeface="Meiryo UI"/>
              </a:rPr>
              <a:t>Google News</a:t>
            </a:r>
          </a:p>
          <a:p>
            <a:pPr algn="l"/>
            <a:r>
              <a:rPr sz="700" b="0">
                <a:solidFill>
                  <a:srgbClr val="8AA8C0"/>
                </a:solidFill>
                <a:latin typeface="Meiryo UI"/>
              </a:rPr>
              <a:t>q=生成AI&amp;hl=ja&amp;gl=JP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691640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0A3560"/>
          </a:solidFill>
          <a:ln w="1016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298FFF"/>
                </a:solidFill>
                <a:latin typeface="Meiryo UI"/>
              </a:rPr>
              <a:t>Google News</a:t>
            </a:r>
          </a:p>
          <a:p>
            <a:pPr algn="l"/>
            <a:r>
              <a:rPr sz="700" b="0">
                <a:solidFill>
                  <a:srgbClr val="8AA8C0"/>
                </a:solidFill>
                <a:latin typeface="Meiryo UI"/>
              </a:rPr>
              <a:t>q=ChatGPT OR Claude OR Gemini OR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560320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0A3560"/>
          </a:solidFill>
          <a:ln w="1016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298FFF"/>
                </a:solidFill>
                <a:latin typeface="Meiryo UI"/>
              </a:rPr>
              <a:t>ITmedia NEWS</a:t>
            </a:r>
          </a:p>
          <a:p>
            <a:pPr algn="l"/>
            <a:r>
              <a:rPr sz="700" b="0">
                <a:solidFill>
                  <a:srgbClr val="8AA8C0"/>
                </a:solidFill>
                <a:latin typeface="Meiryo UI"/>
              </a:rPr>
              <a:t>rss.itmedia.co.jp/rss/2.0/…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291840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0A3560"/>
          </a:solidFill>
          <a:ln w="1016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298FFF"/>
                </a:solidFill>
                <a:latin typeface="Meiryo UI"/>
              </a:rPr>
              <a:t>TechCrunch JP</a:t>
            </a:r>
          </a:p>
          <a:p>
            <a:pPr algn="l"/>
            <a:r>
              <a:rPr sz="700" b="0">
                <a:solidFill>
                  <a:srgbClr val="8AA8C0"/>
                </a:solidFill>
                <a:latin typeface="Meiryo UI"/>
              </a:rPr>
              <a:t>jp.techcrunch.com/feed/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402336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8D266"/>
                </a:solidFill>
                <a:latin typeface="Consolas"/>
              </a:rPr>
              <a:t>lib: feedparser 6.x  (RSS/Atom parser)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4315968"/>
            <a:ext cx="2423160" cy="1737360"/>
          </a:xfrm>
          <a:prstGeom prst="roundRect">
            <a:avLst>
              <a:gd name="adj" fmla="val 8000"/>
            </a:avLst>
          </a:prstGeom>
          <a:solidFill>
            <a:srgbClr val="0A2840"/>
          </a:solidFill>
          <a:ln w="6350"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1">
                <a:solidFill>
                  <a:srgbClr val="8AA8C0"/>
                </a:solidFill>
                <a:latin typeface="Meiryo UI"/>
              </a:rPr>
              <a:t>Keyword Filter  (17 words)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GPT / 生成AI / LLM / 大規模言語モデル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OpenAI / ChatGPT / Anthropic / Claude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Gemini / Grok / DeepSeek / Copilot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IBM BoB / AIエージェント / AI Agent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Agentic AI /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96012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073020"/>
          </a:solidFill>
          <a:ln w="1016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7A"/>
                </a:solidFill>
                <a:latin typeface="Meiryo UI"/>
              </a:rPr>
              <a:t>① collect_all_articles()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RSS fetch  →  feedparser.parse(url)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期間: 前日 00:00〜24:00 JST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戻り値: list[dict]  {title, url, summary}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01168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073020"/>
          </a:solidFill>
          <a:ln w="1016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7A"/>
                </a:solidFill>
                <a:latin typeface="Meiryo UI"/>
              </a:rPr>
              <a:t>② filter_articles()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is_ai_related() でキーワード照合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title + summary を lower() 比較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戻り値: list[dict]  (絞り込み済み)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063240"/>
            <a:ext cx="3749039" cy="914400"/>
          </a:xfrm>
          <a:prstGeom prst="roundRect">
            <a:avLst>
              <a:gd name="adj" fmla="val 10000"/>
            </a:avLst>
          </a:prstGeom>
          <a:solidFill>
            <a:srgbClr val="073020"/>
          </a:solidFill>
          <a:ln w="1016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7A"/>
                </a:solidFill>
                <a:latin typeface="Meiryo UI"/>
              </a:rPr>
              <a:t>③ summarize_with_claude()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client.messages.create()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model: claude-sonnet-4-6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max_tokens: 4096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→ 重複排除 / 重要度ソート / 3行要約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25196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073020"/>
          </a:solidFill>
          <a:ln w="1016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7A"/>
                </a:solidFill>
                <a:latin typeface="Meiryo UI"/>
              </a:rPr>
              <a:t>④ send_email()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smtplib.SMTP_SSL('smtp.gmail.com', 465)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MIMEMultipart('alternative')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text/plain + text/html (UTF-8)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1828800"/>
            <a:ext cx="0" cy="182880"/>
          </a:xfrm>
          <a:prstGeom prst="line">
            <a:avLst/>
          </a:prstGeom>
          <a:ln w="19050">
            <a:solidFill>
              <a:srgbClr val="00C87A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2040" y="2880360"/>
            <a:ext cx="0" cy="182880"/>
          </a:xfrm>
          <a:prstGeom prst="line">
            <a:avLst/>
          </a:prstGeom>
          <a:ln w="19050">
            <a:solidFill>
              <a:srgbClr val="00C87A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92040" y="3931920"/>
            <a:ext cx="0" cy="182880"/>
          </a:xfrm>
          <a:prstGeom prst="line">
            <a:avLst/>
          </a:prstGeom>
          <a:ln w="19050">
            <a:solidFill>
              <a:srgbClr val="00C87A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79408" y="960120"/>
            <a:ext cx="3017520" cy="822960"/>
          </a:xfrm>
          <a:prstGeom prst="roundRect">
            <a:avLst>
              <a:gd name="adj" fmla="val 10000"/>
            </a:avLst>
          </a:prstGeom>
          <a:solidFill>
            <a:srgbClr val="402000"/>
          </a:solidFill>
          <a:ln w="1524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7A00"/>
                </a:solidFill>
                <a:latin typeface="Meiryo UI"/>
              </a:rPr>
              <a:t>Gmail  SMTP</a:t>
            </a:r>
          </a:p>
          <a:p>
            <a:pPr algn="l"/>
            <a:r>
              <a:rPr sz="800" b="0">
                <a:solidFill>
                  <a:srgbClr val="8AA8C0"/>
                </a:solidFill>
                <a:latin typeface="Meiryo UI"/>
              </a:rPr>
              <a:t>smtp.gmail.com  :  465  (SSL)</a:t>
            </a:r>
          </a:p>
          <a:p>
            <a:pPr algn="l"/>
            <a:r>
              <a:rPr sz="800" b="0">
                <a:solidFill>
                  <a:srgbClr val="8AA8C0"/>
                </a:solidFill>
                <a:latin typeface="Meiryo UI"/>
              </a:rPr>
              <a:t>Auth: App Password (16-digit)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8" y="1920240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281600"/>
          </a:solidFill>
          <a:ln w="6350">
            <a:solidFill>
              <a:srgbClr val="2A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8AA8C0"/>
                </a:solidFill>
                <a:latin typeface="Meiryo UI"/>
              </a:rPr>
              <a:t>Mail Spec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Subject : 【生成AI日報】YYYY年MM月DD日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Body    : text/plain + text/html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Charset : UTF-8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Trigger : cron JST 07:00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3493008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122030"/>
          </a:solidFill>
          <a:ln w="10160"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648CAA"/>
                </a:solidFill>
                <a:latin typeface="Meiryo UI"/>
              </a:rPr>
              <a:t>GitHub Secrets  (env injection)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ANTHROPIC_API_KEY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GMAIL_ADDRESS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GMAIL_APP_PASSWORD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TO_EMAIL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321808"/>
            <a:ext cx="3749039" cy="777240"/>
          </a:xfrm>
          <a:prstGeom prst="roundRect">
            <a:avLst>
              <a:gd name="adj" fmla="val 10000"/>
            </a:avLst>
          </a:prstGeom>
          <a:solidFill>
            <a:srgbClr val="002830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0C8C8"/>
                </a:solidFill>
                <a:latin typeface="Meiryo UI"/>
              </a:rPr>
              <a:t>Anthropic Claude API</a:t>
            </a:r>
          </a:p>
          <a:p>
            <a:pPr algn="l"/>
            <a:r>
              <a:rPr sz="750" b="0">
                <a:solidFill>
                  <a:srgbClr val="8AA8C0"/>
                </a:solidFill>
                <a:latin typeface="Meiryo UI"/>
              </a:rPr>
              <a:t>POST https://api.anthropic.com/v1/messages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lib: anthropic&gt;=0.40.0  |  model: claude-sonnet-4-6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66928"/>
            <a:ext cx="3749039" cy="502920"/>
          </a:xfrm>
          <a:prstGeom prst="roundRect">
            <a:avLst>
              <a:gd name="adj" fmla="val 10000"/>
            </a:avLst>
          </a:prstGeom>
          <a:solidFill>
            <a:srgbClr val="1A0A35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A05CFF"/>
                </a:solidFill>
                <a:latin typeface="Meiryo UI"/>
              </a:rPr>
              <a:t>GitHub Actions  |  ubuntu-latest  |  Python 3.12  |  cron: '0 22 * * *' UTC  =  JST 07:00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24328" y="1252728"/>
            <a:ext cx="393192" cy="0"/>
          </a:xfrm>
          <a:prstGeom prst="line">
            <a:avLst/>
          </a:prstGeom>
          <a:ln w="19050">
            <a:solidFill>
              <a:srgbClr val="298F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24328" y="1984248"/>
            <a:ext cx="393192" cy="0"/>
          </a:xfrm>
          <a:prstGeom prst="line">
            <a:avLst/>
          </a:prstGeom>
          <a:ln w="19050">
            <a:solidFill>
              <a:srgbClr val="298F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24328" y="2852928"/>
            <a:ext cx="393192" cy="0"/>
          </a:xfrm>
          <a:prstGeom prst="line">
            <a:avLst/>
          </a:prstGeom>
          <a:ln w="19050">
            <a:solidFill>
              <a:srgbClr val="298F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24328" y="3584448"/>
            <a:ext cx="393192" cy="0"/>
          </a:xfrm>
          <a:prstGeom prst="line">
            <a:avLst/>
          </a:prstGeom>
          <a:ln w="19050">
            <a:solidFill>
              <a:srgbClr val="298F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892040" y="3931920"/>
            <a:ext cx="0" cy="1389888"/>
          </a:xfrm>
          <a:prstGeom prst="line">
            <a:avLst/>
          </a:prstGeom>
          <a:ln w="19050">
            <a:solidFill>
              <a:srgbClr val="00C8C8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92040" y="3931920"/>
            <a:ext cx="0" cy="1389888"/>
          </a:xfrm>
          <a:prstGeom prst="line">
            <a:avLst/>
          </a:prstGeom>
          <a:ln w="15240">
            <a:solidFill>
              <a:srgbClr val="00C8C8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766560" y="1645920"/>
            <a:ext cx="2212848" cy="3035808"/>
          </a:xfrm>
          <a:prstGeom prst="line">
            <a:avLst/>
          </a:prstGeom>
          <a:ln w="25400">
            <a:solidFill>
              <a:srgbClr val="FF7A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92040" y="960120"/>
            <a:ext cx="0" cy="109728"/>
          </a:xfrm>
          <a:prstGeom prst="line">
            <a:avLst/>
          </a:prstGeom>
          <a:ln w="22860">
            <a:solidFill>
              <a:srgbClr val="A05C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766560" y="4206240"/>
            <a:ext cx="2212848" cy="320040"/>
          </a:xfrm>
          <a:prstGeom prst="line">
            <a:avLst/>
          </a:prstGeom>
          <a:ln w="15240">
            <a:solidFill>
              <a:srgbClr val="648CAA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0" y="457200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FF7A00"/>
                </a:solidFill>
                <a:latin typeface="Meiryo UI"/>
              </a:rPr>
              <a:t>MIME multipart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77639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8CAA"/>
                </a:solidFill>
                <a:latin typeface="Meiryo UI"/>
              </a:rPr>
              <a:t>env vars inject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484632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00C8C8"/>
                </a:solidFill>
                <a:latin typeface="Meiryo UI"/>
              </a:rPr>
              <a:t>HTTP/1.1 POST
HTTP/1.1 200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100584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A05CFF"/>
                </a:solidFill>
                <a:latin typeface="Meiryo UI"/>
              </a:rPr>
              <a:t>workflow_dispatch / schedule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 w="3810">
            <a:solidFill>
              <a:srgbClr val="2A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298FFF"/>
                </a:solidFill>
                <a:latin typeface="Meiryo UI"/>
              </a:rPr>
              <a:t>■ RSS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00C87A"/>
                </a:solidFill>
                <a:latin typeface="Meiryo UI"/>
              </a:rPr>
              <a:t>■ 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00C8C8"/>
                </a:solidFill>
                <a:latin typeface="Meiryo UI"/>
              </a:rPr>
              <a:t>■ Claude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FF7A00"/>
                </a:solidFill>
                <a:latin typeface="Meiryo UI"/>
              </a:rPr>
              <a:t>■ Gmail 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A05CFF"/>
                </a:solidFill>
                <a:latin typeface="Meiryo UI"/>
              </a:rPr>
              <a:t>■ GitHub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48CAA"/>
                </a:solidFill>
                <a:latin typeface="Meiryo UI"/>
              </a:rPr>
              <a:t>■ GitHub Secrets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5836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F8D266"/>
                </a:solidFill>
                <a:latin typeface="Meiryo UI"/>
              </a:rPr>
              <a:t>■ Code / Config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