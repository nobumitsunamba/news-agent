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7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38912"/>
          </a:xfrm>
          <a:prstGeom prst="rect">
            <a:avLst/>
          </a:prstGeom>
          <a:solidFill>
            <a:srgbClr val="08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FFFFFF"/>
                </a:solidFill>
                <a:latin typeface="Meiryo UI"/>
              </a:rPr>
              <a:t>生成AI日報エージェント  —  IT基盤アーキテクチャ（サービス・インフラ全体）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601200" y="54864"/>
            <a:ext cx="24688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7A98B5"/>
                </a:solidFill>
                <a:latin typeface="Meiryo UI"/>
              </a:rPr>
              <a:t>As of 2026-05-31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" y="512064"/>
            <a:ext cx="2331720" cy="6144768"/>
          </a:xfrm>
          <a:prstGeom prst="roundRect">
            <a:avLst>
              <a:gd name="adj" fmla="val 10000"/>
            </a:avLst>
          </a:prstGeom>
          <a:solidFill>
            <a:srgbClr val="001835"/>
          </a:solidFill>
          <a:ln w="12700">
            <a:solidFill>
              <a:srgbClr val="00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" y="512064"/>
            <a:ext cx="2331720" cy="256032"/>
          </a:xfrm>
          <a:prstGeom prst="roundRect">
            <a:avLst>
              <a:gd name="adj" fmla="val 8000"/>
            </a:avLst>
          </a:prstGeom>
          <a:solidFill>
            <a:srgbClr val="00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External Data Sources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4600" y="512064"/>
            <a:ext cx="3246120" cy="6144768"/>
          </a:xfrm>
          <a:prstGeom prst="roundRect">
            <a:avLst>
              <a:gd name="adj" fmla="val 10000"/>
            </a:avLst>
          </a:prstGeom>
          <a:solidFill>
            <a:srgbClr val="2A1850"/>
          </a:solidFill>
          <a:ln w="15240"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14600" y="512064"/>
            <a:ext cx="3246120" cy="256032"/>
          </a:xfrm>
          <a:prstGeom prst="roundRect">
            <a:avLst>
              <a:gd name="adj" fmla="val 8000"/>
            </a:avLst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GitHub Platform</a:t>
            </a:r>
          </a:p>
        </p:txBody>
      </p:sp>
      <p:sp>
        <p:nvSpPr>
          <p:cNvPr id="8" name="Rectangle 7"/>
          <p:cNvSpPr/>
          <p:nvPr/>
        </p:nvSpPr>
        <p:spPr>
          <a:xfrm>
            <a:off x="5870448" y="512064"/>
            <a:ext cx="2514600" cy="6144768"/>
          </a:xfrm>
          <a:prstGeom prst="roundRect">
            <a:avLst>
              <a:gd name="adj" fmla="val 10000"/>
            </a:avLst>
          </a:prstGeom>
          <a:solidFill>
            <a:srgbClr val="002014"/>
          </a:solidFill>
          <a:ln w="15240">
            <a:solidFill>
              <a:srgbClr val="00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70448" y="512064"/>
            <a:ext cx="2514600" cy="256032"/>
          </a:xfrm>
          <a:prstGeom prst="roundRect">
            <a:avLst>
              <a:gd name="adj" fmla="val 8000"/>
            </a:avLst>
          </a:prstGeom>
          <a:solidFill>
            <a:srgbClr val="00C8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Execution Runtime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85632" y="512064"/>
            <a:ext cx="1874519" cy="3154680"/>
          </a:xfrm>
          <a:prstGeom prst="roundRect">
            <a:avLst>
              <a:gd name="adj" fmla="val 10000"/>
            </a:avLst>
          </a:prstGeom>
          <a:solidFill>
            <a:srgbClr val="381800"/>
          </a:solidFill>
          <a:ln w="12700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485632" y="512064"/>
            <a:ext cx="1874519" cy="256032"/>
          </a:xfrm>
          <a:prstGeom prst="roundRect">
            <a:avLst>
              <a:gd name="adj" fmla="val 8000"/>
            </a:avLst>
          </a:prstGeom>
          <a:solidFill>
            <a:srgbClr val="CC4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Anthropic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42448" y="512064"/>
            <a:ext cx="1673352" cy="6144768"/>
          </a:xfrm>
          <a:prstGeom prst="roundRect">
            <a:avLst>
              <a:gd name="adj" fmla="val 10000"/>
            </a:avLst>
          </a:prstGeom>
          <a:solidFill>
            <a:srgbClr val="0A2816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442448" y="512064"/>
            <a:ext cx="1673352" cy="256032"/>
          </a:xfrm>
          <a:prstGeom prst="roundRect">
            <a:avLst>
              <a:gd name="adj" fmla="val 8000"/>
            </a:avLst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Google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85632" y="3749039"/>
            <a:ext cx="1874519" cy="2907792"/>
          </a:xfrm>
          <a:prstGeom prst="roundRect">
            <a:avLst>
              <a:gd name="adj" fmla="val 10000"/>
            </a:avLst>
          </a:prstGeom>
          <a:solidFill>
            <a:srgbClr val="181810"/>
          </a:solidFill>
          <a:ln w="1270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485632" y="3749039"/>
            <a:ext cx="1874519" cy="256032"/>
          </a:xfrm>
          <a:prstGeom prst="roundRect">
            <a:avLst>
              <a:gd name="adj" fmla="val 8000"/>
            </a:avLst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800" b="1">
                <a:solidFill>
                  <a:srgbClr val="FFFFFF"/>
                </a:solidFill>
                <a:latin typeface="Meiryo UI"/>
              </a:rPr>
              <a:t>End User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987552"/>
            <a:ext cx="2176272" cy="685800"/>
          </a:xfrm>
          <a:prstGeom prst="roundRect">
            <a:avLst>
              <a:gd name="adj" fmla="val 8000"/>
            </a:avLst>
          </a:prstGeom>
          <a:solidFill>
            <a:srgbClr val="002242"/>
          </a:solidFill>
          <a:ln w="7620">
            <a:solidFill>
              <a:srgbClr val="00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8BD4"/>
                </a:solidFill>
                <a:latin typeface="Meiryo UI"/>
              </a:rPr>
              <a:t>Google News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RSS 2.0 / HTTPS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q=生成AI (UTF-8 encoded)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1874519"/>
            <a:ext cx="2176272" cy="685800"/>
          </a:xfrm>
          <a:prstGeom prst="roundRect">
            <a:avLst>
              <a:gd name="adj" fmla="val 8000"/>
            </a:avLst>
          </a:prstGeom>
          <a:solidFill>
            <a:srgbClr val="002242"/>
          </a:solidFill>
          <a:ln w="7620">
            <a:solidFill>
              <a:srgbClr val="00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8BD4"/>
                </a:solidFill>
                <a:latin typeface="Meiryo UI"/>
              </a:rPr>
              <a:t>Google News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RSS 2.0 / HTTPS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q=ChatGPT OR Claude OR...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46304" y="2761488"/>
            <a:ext cx="2176272" cy="685800"/>
          </a:xfrm>
          <a:prstGeom prst="roundRect">
            <a:avLst>
              <a:gd name="adj" fmla="val 8000"/>
            </a:avLst>
          </a:prstGeom>
          <a:solidFill>
            <a:srgbClr val="002242"/>
          </a:solidFill>
          <a:ln w="7620">
            <a:solidFill>
              <a:srgbClr val="00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8BD4"/>
                </a:solidFill>
                <a:latin typeface="Meiryo UI"/>
              </a:rPr>
              <a:t>ITmedia NEWS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RSS 2.0 / HTTPS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rss.itmedia.co.jp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" y="3648456"/>
            <a:ext cx="2176272" cy="685800"/>
          </a:xfrm>
          <a:prstGeom prst="roundRect">
            <a:avLst>
              <a:gd name="adj" fmla="val 8000"/>
            </a:avLst>
          </a:prstGeom>
          <a:solidFill>
            <a:srgbClr val="002242"/>
          </a:solidFill>
          <a:ln w="7620">
            <a:solidFill>
              <a:srgbClr val="008B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8BD4"/>
                </a:solidFill>
                <a:latin typeface="Meiryo UI"/>
              </a:rPr>
              <a:t>TechCrunch JP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RSS 2.0 / HTTPS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jp.techcrunch.com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" y="4663440"/>
            <a:ext cx="21762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7A98B5"/>
                </a:solidFill>
                <a:latin typeface="Consolas"/>
              </a:rPr>
              <a:t>Format: XML / Atom/RSS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" y="4919472"/>
            <a:ext cx="2176272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F8D266"/>
                </a:solidFill>
                <a:latin typeface="Consolas"/>
              </a:rPr>
              <a:t>Parse: feedparser 6.x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" y="5166360"/>
            <a:ext cx="217627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7A98B5"/>
                </a:solidFill>
                <a:latin typeface="Meiryo UI"/>
              </a:rPr>
              <a:t>Collect: 前日 00:00〜24:00 JST
Filter: 17 AI keywords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06040" y="914400"/>
            <a:ext cx="3063240" cy="777240"/>
          </a:xfrm>
          <a:prstGeom prst="roundRect">
            <a:avLst>
              <a:gd name="adj" fmla="val 8000"/>
            </a:avLst>
          </a:prstGeom>
          <a:solidFill>
            <a:srgbClr val="1A0A38"/>
          </a:solidFill>
          <a:ln w="10160"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6E40C9"/>
                </a:solidFill>
                <a:latin typeface="Meiryo UI"/>
              </a:rPr>
              <a:t>Repository</a:t>
            </a:r>
          </a:p>
          <a:p>
            <a:pPr algn="l"/>
            <a:r>
              <a:rPr sz="800" b="0">
                <a:solidFill>
                  <a:srgbClr val="7A98B5"/>
                </a:solidFill>
                <a:latin typeface="Meiryo UI"/>
              </a:rPr>
              <a:t>nobumitsunamba/news-agent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Branch: main  |  Visibility: Public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06040" y="1847088"/>
            <a:ext cx="3063240" cy="914400"/>
          </a:xfrm>
          <a:prstGeom prst="roundRect">
            <a:avLst>
              <a:gd name="adj" fmla="val 8000"/>
            </a:avLst>
          </a:prstGeom>
          <a:solidFill>
            <a:srgbClr val="1E0C45"/>
          </a:solidFill>
          <a:ln w="10160"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6E40C9"/>
                </a:solidFill>
                <a:latin typeface="Meiryo UI"/>
              </a:rPr>
              <a:t>Actions Scheduler (Cron)</a:t>
            </a:r>
          </a:p>
          <a:p>
            <a:pPr algn="l"/>
            <a:r>
              <a:rPr sz="800" b="0">
                <a:solidFill>
                  <a:srgbClr val="F8D266"/>
                </a:solidFill>
                <a:latin typeface="Consolas"/>
              </a:rPr>
              <a:t>cron: '0 22 * * *'  (UTC)</a:t>
            </a:r>
          </a:p>
          <a:p>
            <a:pPr algn="l"/>
            <a:r>
              <a:rPr sz="800" b="0">
                <a:solidFill>
                  <a:srgbClr val="7A98B5"/>
                </a:solidFill>
                <a:latin typeface="Meiryo UI"/>
              </a:rPr>
              <a:t>= JST 07:00 daily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workflow_dispatch (手動)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2907792"/>
            <a:ext cx="3063240" cy="1097280"/>
          </a:xfrm>
          <a:prstGeom prst="roundRect">
            <a:avLst>
              <a:gd name="adj" fmla="val 8000"/>
            </a:avLst>
          </a:prstGeom>
          <a:solidFill>
            <a:srgbClr val="1A0A38"/>
          </a:solidFill>
          <a:ln w="10160"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6E40C9"/>
                </a:solidFill>
                <a:latin typeface="Meiryo UI"/>
              </a:rPr>
              <a:t>Actions Runner</a:t>
            </a:r>
          </a:p>
          <a:p>
            <a:pPr algn="l"/>
            <a:r>
              <a:rPr sz="800" b="0">
                <a:solidFill>
                  <a:srgbClr val="7A98B5"/>
                </a:solidFill>
                <a:latin typeface="Meiryo UI"/>
              </a:rPr>
              <a:t>ubuntu-latest (ephemeral VM)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timeout: 15 min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Python 3.12  |  pip cache</a:t>
            </a:r>
          </a:p>
          <a:p>
            <a:pPr algn="l"/>
            <a:r>
              <a:rPr sz="700" b="0">
                <a:solidFill>
                  <a:srgbClr val="F8D266"/>
                </a:solidFill>
                <a:latin typeface="Consolas"/>
              </a:rPr>
              <a:t>pip install -r requirements.txt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06040" y="4160520"/>
            <a:ext cx="3063240" cy="1417320"/>
          </a:xfrm>
          <a:prstGeom prst="roundRect">
            <a:avLst>
              <a:gd name="adj" fmla="val 8000"/>
            </a:avLst>
          </a:prstGeom>
          <a:solidFill>
            <a:srgbClr val="140830"/>
          </a:solidFill>
          <a:ln w="10160">
            <a:solidFill>
              <a:srgbClr val="6E40C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A080FF"/>
                </a:solidFill>
                <a:latin typeface="Meiryo UI"/>
              </a:rPr>
              <a:t>Secrets Manager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ANTHROPIC_API_KEY   ••••••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GMAIL_ADDRESS          ••••••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GMAIL_APP_PASSWORD  ••••••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TO_EMAIL                    ••••••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→ env vars に注入して実行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61888" y="914400"/>
            <a:ext cx="2331720" cy="658368"/>
          </a:xfrm>
          <a:prstGeom prst="roundRect">
            <a:avLst>
              <a:gd name="adj" fmla="val 8000"/>
            </a:avLst>
          </a:prstGeom>
          <a:solidFill>
            <a:srgbClr val="002818"/>
          </a:solidFill>
          <a:ln w="10160">
            <a:solidFill>
              <a:srgbClr val="00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8A"/>
                </a:solidFill>
                <a:latin typeface="Meiryo UI"/>
              </a:rPr>
              <a:t>Python 3.12 Runtime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CPython  |  ubuntu-latest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pip + cache (actions/setup-python@v5)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61888" y="1719072"/>
            <a:ext cx="2331720" cy="3474720"/>
          </a:xfrm>
          <a:prstGeom prst="roundRect">
            <a:avLst>
              <a:gd name="adj" fmla="val 8000"/>
            </a:avLst>
          </a:prstGeom>
          <a:solidFill>
            <a:srgbClr val="002214"/>
          </a:solidFill>
          <a:ln w="12700">
            <a:solidFill>
              <a:srgbClr val="00C8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00C88A"/>
                </a:solidFill>
                <a:latin typeface="Meiryo UI"/>
              </a:rPr>
              <a:t>news_agent.py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/>
            </a:r>
          </a:p>
          <a:p>
            <a:pPr algn="l"/>
            <a:r>
              <a:rPr sz="750" b="1">
                <a:solidFill>
                  <a:srgbClr val="F8D266"/>
                </a:solidFill>
                <a:latin typeface="Consolas"/>
              </a:rPr>
              <a:t>collect_all_articles()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feedparser.parse(url)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→ list[dict]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/>
            </a:r>
          </a:p>
          <a:p>
            <a:pPr algn="l"/>
            <a:r>
              <a:rPr sz="750" b="1">
                <a:solidFill>
                  <a:srgbClr val="F8D266"/>
                </a:solidFill>
                <a:latin typeface="Consolas"/>
              </a:rPr>
              <a:t>filter_articles()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keyword match (lower)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→ list[dict]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/>
            </a:r>
          </a:p>
          <a:p>
            <a:pPr algn="l"/>
            <a:r>
              <a:rPr sz="750" b="1">
                <a:solidFill>
                  <a:srgbClr val="F8D266"/>
                </a:solidFill>
                <a:latin typeface="Consolas"/>
              </a:rPr>
              <a:t>summarize_with_claude()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client.messages.create()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→ str (markdown)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/>
            </a:r>
          </a:p>
          <a:p>
            <a:pPr algn="l"/>
            <a:r>
              <a:rPr sz="750" b="1">
                <a:solidFill>
                  <a:srgbClr val="F8D266"/>
                </a:solidFill>
                <a:latin typeface="Consolas"/>
              </a:rPr>
              <a:t>send_email()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SMTP_SSL :465</a:t>
            </a:r>
          </a:p>
          <a:p>
            <a:pPr algn="l"/>
            <a:r>
              <a:rPr sz="700" b="0">
                <a:solidFill>
                  <a:srgbClr val="7A98B5"/>
                </a:solidFill>
                <a:latin typeface="Meiryo UI"/>
              </a:rPr>
              <a:t>  MIMEMultipart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61888" y="5349240"/>
            <a:ext cx="2331720" cy="1005840"/>
          </a:xfrm>
          <a:prstGeom prst="roundRect">
            <a:avLst>
              <a:gd name="adj" fmla="val 8000"/>
            </a:avLst>
          </a:prstGeom>
          <a:solidFill>
            <a:srgbClr val="001C10"/>
          </a:solidFill>
          <a:ln w="6350">
            <a:solidFill>
              <a:srgbClr val="25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7A98B5"/>
                </a:solidFill>
                <a:latin typeface="Meiryo UI"/>
              </a:rPr>
              <a:t>requirements.txt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anthropic &gt;= 0.40.0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feedparser &gt;= 6.0.11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python-dotenv &gt;= 1.0.0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7072" y="914400"/>
            <a:ext cx="1691640" cy="1188720"/>
          </a:xfrm>
          <a:prstGeom prst="roundRect">
            <a:avLst>
              <a:gd name="adj" fmla="val 8000"/>
            </a:avLst>
          </a:prstGeom>
          <a:solidFill>
            <a:srgbClr val="401800"/>
          </a:solidFill>
          <a:ln w="10160">
            <a:solidFill>
              <a:srgbClr val="CC4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CC4B00"/>
                </a:solidFill>
                <a:latin typeface="Meiryo UI"/>
              </a:rPr>
              <a:t>Claude API</a:t>
            </a:r>
          </a:p>
          <a:p>
            <a:pPr algn="l"/>
            <a:r>
              <a:rPr sz="800" b="0">
                <a:solidFill>
                  <a:srgbClr val="F8D266"/>
                </a:solidFill>
                <a:latin typeface="Consolas"/>
              </a:rPr>
              <a:t>claude-sonnet-4-6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POST /v1/messages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max_tokens: 4096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77072" y="2286000"/>
            <a:ext cx="1691640" cy="777240"/>
          </a:xfrm>
          <a:prstGeom prst="roundRect">
            <a:avLst>
              <a:gd name="adj" fmla="val 8000"/>
            </a:avLst>
          </a:prstGeom>
          <a:solidFill>
            <a:srgbClr val="281000"/>
          </a:solidFill>
          <a:ln w="6350">
            <a:solidFill>
              <a:srgbClr val="25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800" b="1">
                <a:solidFill>
                  <a:srgbClr val="7A98B5"/>
                </a:solidFill>
                <a:latin typeface="Meiryo UI"/>
              </a:rPr>
              <a:t>Prompt Task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重複排除 / 重要度ソート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3行日本語要約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7072" y="3200400"/>
            <a:ext cx="1691640" cy="347472"/>
          </a:xfrm>
          <a:prstGeom prst="roundRect">
            <a:avLst>
              <a:gd name="adj" fmla="val 8000"/>
            </a:avLst>
          </a:prstGeom>
          <a:solidFill>
            <a:srgbClr val="200C00"/>
          </a:solidFill>
          <a:ln w="6350">
            <a:solidFill>
              <a:srgbClr val="25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HTTPS / JSON  (REST API)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533888" y="914400"/>
            <a:ext cx="1490472" cy="1188720"/>
          </a:xfrm>
          <a:prstGeom prst="roundRect">
            <a:avLst>
              <a:gd name="adj" fmla="val 8000"/>
            </a:avLst>
          </a:prstGeom>
          <a:solidFill>
            <a:srgbClr val="062412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34A853"/>
                </a:solidFill>
                <a:latin typeface="Meiryo UI"/>
              </a:rPr>
              <a:t>Google News</a:t>
            </a:r>
          </a:p>
          <a:p>
            <a:pPr algn="l"/>
            <a:r>
              <a:rPr sz="800" b="0">
                <a:solidFill>
                  <a:srgbClr val="7A98B5"/>
                </a:solidFill>
                <a:latin typeface="Meiryo UI"/>
              </a:rPr>
              <a:t>RSS Service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news.google.com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/rss/search?q=…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533888" y="2286000"/>
            <a:ext cx="1490472" cy="1371600"/>
          </a:xfrm>
          <a:prstGeom prst="roundRect">
            <a:avLst>
              <a:gd name="adj" fmla="val 8000"/>
            </a:avLst>
          </a:prstGeom>
          <a:solidFill>
            <a:srgbClr val="062A14"/>
          </a:solidFill>
          <a:ln w="1016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34A853"/>
                </a:solidFill>
                <a:latin typeface="Meiryo UI"/>
              </a:rPr>
              <a:t>Gmail SMTP</a:t>
            </a:r>
          </a:p>
          <a:p>
            <a:pPr algn="l"/>
            <a:r>
              <a:rPr sz="800" b="0">
                <a:solidFill>
                  <a:srgbClr val="F8D266"/>
                </a:solidFill>
                <a:latin typeface="Consolas"/>
              </a:rPr>
              <a:t>smtp.gmail.com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Port: 465 / SSL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Auth: App Password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(16-digit)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77072" y="4160520"/>
            <a:ext cx="1691640" cy="822960"/>
          </a:xfrm>
          <a:prstGeom prst="roundRect">
            <a:avLst>
              <a:gd name="adj" fmla="val 8000"/>
            </a:avLst>
          </a:prstGeom>
          <a:solidFill>
            <a:srgbClr val="282800"/>
          </a:solidFill>
          <a:ln w="10160"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900" b="1">
                <a:solidFill>
                  <a:srgbClr val="FFCC00"/>
                </a:solidFill>
                <a:latin typeface="Meiryo UI"/>
              </a:rPr>
              <a:t>受信トレイ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件名: 【生成AI日報】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YYYY年MM月DD日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7072" y="5120640"/>
            <a:ext cx="1691640" cy="685800"/>
          </a:xfrm>
          <a:prstGeom prst="roundRect">
            <a:avLst>
              <a:gd name="adj" fmla="val 8000"/>
            </a:avLst>
          </a:prstGeom>
          <a:solidFill>
            <a:srgbClr val="202000"/>
          </a:solidFill>
          <a:ln w="6350">
            <a:solidFill>
              <a:srgbClr val="25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text/plain + text/html</a:t>
            </a:r>
          </a:p>
          <a:p>
            <a:pPr algn="l"/>
            <a:r>
              <a:rPr sz="750" b="0">
                <a:solidFill>
                  <a:srgbClr val="F8D266"/>
                </a:solidFill>
                <a:latin typeface="Consolas"/>
              </a:rPr>
              <a:t>Charset: UTF-8</a:t>
            </a:r>
          </a:p>
          <a:p>
            <a:pPr algn="l"/>
            <a:r>
              <a:rPr sz="750" b="0">
                <a:solidFill>
                  <a:srgbClr val="7A98B5"/>
                </a:solidFill>
                <a:latin typeface="Meiryo UI"/>
              </a:rPr>
              <a:t>Encoding: quoted-printable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2322576" y="1325880"/>
            <a:ext cx="283464" cy="0"/>
          </a:xfrm>
          <a:prstGeom prst="line">
            <a:avLst/>
          </a:prstGeom>
          <a:ln w="19050">
            <a:solidFill>
              <a:srgbClr val="008BD4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22576" y="2212848"/>
            <a:ext cx="283464" cy="0"/>
          </a:xfrm>
          <a:prstGeom prst="line">
            <a:avLst/>
          </a:prstGeom>
          <a:ln w="19050">
            <a:solidFill>
              <a:srgbClr val="008BD4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322576" y="3099816"/>
            <a:ext cx="283464" cy="0"/>
          </a:xfrm>
          <a:prstGeom prst="line">
            <a:avLst/>
          </a:prstGeom>
          <a:ln w="19050">
            <a:solidFill>
              <a:srgbClr val="008BD4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322576" y="3995928"/>
            <a:ext cx="283464" cy="0"/>
          </a:xfrm>
          <a:prstGeom prst="line">
            <a:avLst/>
          </a:prstGeom>
          <a:ln w="19050">
            <a:solidFill>
              <a:srgbClr val="008BD4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33087" y="2761488"/>
            <a:ext cx="0" cy="146304"/>
          </a:xfrm>
          <a:prstGeom prst="line">
            <a:avLst/>
          </a:prstGeom>
          <a:ln w="22860">
            <a:solidFill>
              <a:srgbClr val="6E40C9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892040" y="3200400"/>
            <a:ext cx="1069848" cy="256032"/>
          </a:xfrm>
          <a:prstGeom prst="line">
            <a:avLst/>
          </a:prstGeom>
          <a:ln w="19050">
            <a:solidFill>
              <a:srgbClr val="00C88A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5641848" y="4114800"/>
            <a:ext cx="320040" cy="749808"/>
          </a:xfrm>
          <a:prstGeom prst="line">
            <a:avLst/>
          </a:prstGeom>
          <a:ln w="19050">
            <a:solidFill>
              <a:srgbClr val="A080FF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8293608" y="1691640"/>
            <a:ext cx="283464" cy="594360"/>
          </a:xfrm>
          <a:prstGeom prst="line">
            <a:avLst/>
          </a:prstGeom>
          <a:ln w="25400">
            <a:solidFill>
              <a:srgbClr val="CC4B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H="1">
            <a:off x="8293608" y="1920240"/>
            <a:ext cx="283464" cy="640080"/>
          </a:xfrm>
          <a:prstGeom prst="line">
            <a:avLst/>
          </a:prstGeom>
          <a:ln w="19050">
            <a:solidFill>
              <a:srgbClr val="CC4B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8293608" y="3108960"/>
            <a:ext cx="2240280" cy="1097280"/>
          </a:xfrm>
          <a:prstGeom prst="line">
            <a:avLst/>
          </a:prstGeom>
          <a:ln w="25400">
            <a:solidFill>
              <a:srgbClr val="34A853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9418320" y="4160520"/>
            <a:ext cx="0" cy="411480"/>
          </a:xfrm>
          <a:prstGeom prst="line">
            <a:avLst/>
          </a:prstGeom>
          <a:ln w="22860">
            <a:solidFill>
              <a:srgbClr val="FFCC00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H="1">
            <a:off x="10287000" y="1325880"/>
            <a:ext cx="246888" cy="0"/>
          </a:xfrm>
          <a:prstGeom prst="line">
            <a:avLst/>
          </a:prstGeom>
          <a:ln w="15240">
            <a:solidFill>
              <a:srgbClr val="34A853"/>
            </a:solidFill>
            <a:headEnd type="arrow" w="med" len="med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29600" y="20116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CC4B00"/>
                </a:solidFill>
                <a:latin typeface="Consolas"/>
              </a:rPr>
              <a:t>REQ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2468880"/>
            <a:ext cx="365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CC4B00"/>
                </a:solidFill>
                <a:latin typeface="Consolas"/>
              </a:rPr>
              <a:t>RES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0" y="384048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34A853"/>
                </a:solidFill>
                <a:latin typeface="Consolas"/>
              </a:rPr>
              <a:t>SMTP SSL :465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0" y="461772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A080FF"/>
                </a:solidFill>
                <a:latin typeface="Consolas"/>
              </a:rPr>
              <a:t>env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31920" y="1417320"/>
            <a:ext cx="914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6E40C9"/>
                </a:solidFill>
                <a:latin typeface="Meiryo UI"/>
              </a:rPr>
              <a:t>trigger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3017520"/>
            <a:ext cx="6400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>
                <a:solidFill>
                  <a:srgbClr val="00C88A"/>
                </a:solidFill>
                <a:latin typeface="Meiryo UI"/>
              </a:rPr>
              <a:t>exec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04288" y="1124712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008BD4"/>
                </a:solidFill>
                <a:latin typeface="Consolas"/>
              </a:rPr>
              <a:t>HTTPS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04288" y="2011679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008BD4"/>
                </a:solidFill>
                <a:latin typeface="Consolas"/>
              </a:rPr>
              <a:t>HTTPS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304288" y="289864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008BD4"/>
                </a:solidFill>
                <a:latin typeface="Consolas"/>
              </a:rPr>
              <a:t>HTTPS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304288" y="3794760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>
                <a:solidFill>
                  <a:srgbClr val="008BD4"/>
                </a:solidFill>
                <a:latin typeface="Consolas"/>
              </a:rPr>
              <a:t>HTTPS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8101A"/>
          </a:solidFill>
          <a:ln w="3810">
            <a:solidFill>
              <a:srgbClr val="253F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8288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008BD4"/>
                </a:solidFill>
                <a:latin typeface="Meiryo UI"/>
              </a:rPr>
              <a:t>■ External Data Sources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37744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6E40C9"/>
                </a:solidFill>
                <a:latin typeface="Meiryo UI"/>
              </a:rPr>
              <a:t>■ GitHub Platform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8912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00C88A"/>
                </a:solidFill>
                <a:latin typeface="Meiryo UI"/>
              </a:rPr>
              <a:t>■ Execution Runtime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CC4B00"/>
                </a:solidFill>
                <a:latin typeface="Meiryo UI"/>
              </a:rPr>
              <a:t>■ Anthropic Platform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34A853"/>
                </a:solidFill>
                <a:latin typeface="Meiryo UI"/>
              </a:rPr>
              <a:t>■ Google Platform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058400" y="6592824"/>
            <a:ext cx="1920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>
                <a:solidFill>
                  <a:srgbClr val="FFCC00"/>
                </a:solidFill>
                <a:latin typeface="Meiryo UI"/>
              </a:rPr>
              <a:t>■ End User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